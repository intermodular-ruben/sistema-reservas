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0" r:id="rId3"/>
    <p:sldId id="259" r:id="rId4"/>
    <p:sldId id="261" r:id="rId5"/>
    <p:sldId id="264" r:id="rId6"/>
    <p:sldId id="263" r:id="rId7"/>
    <p:sldId id="257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2629"/>
    <a:srgbClr val="EB6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8"/>
    <p:restoredTop sz="94681"/>
  </p:normalViewPr>
  <p:slideViewPr>
    <p:cSldViewPr snapToGrid="0">
      <p:cViewPr varScale="1">
        <p:scale>
          <a:sx n="115" d="100"/>
          <a:sy n="115" d="100"/>
        </p:scale>
        <p:origin x="127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935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223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391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560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593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46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049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26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419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445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9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22D2D-3C87-774D-91A3-C4228D5E6489}" type="datetimeFigureOut">
              <a:rPr lang="es-ES" smtClean="0"/>
              <a:t>16/04/2026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4591B1-FBE7-8449-ADD0-4324AE77B8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850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8C89767-8FD1-55C4-B090-48DA47B61706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r="1859" b="1041"/>
          <a:stretch/>
        </p:blipFill>
        <p:spPr>
          <a:xfrm>
            <a:off x="0" y="881318"/>
            <a:ext cx="3356429" cy="359813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E3C2145-FA48-6A39-716F-76CB1475850C}"/>
              </a:ext>
            </a:extLst>
          </p:cNvPr>
          <p:cNvSpPr txBox="1"/>
          <p:nvPr/>
        </p:nvSpPr>
        <p:spPr>
          <a:xfrm>
            <a:off x="4194312" y="749462"/>
            <a:ext cx="41843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3D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Intermodular</a:t>
            </a:r>
          </a:p>
          <a:p>
            <a:pPr algn="ctr"/>
            <a:r>
              <a:rPr lang="en-US" sz="3200" b="1" dirty="0">
                <a:solidFill>
                  <a:srgbClr val="3D0080"/>
                </a:solidFill>
                <a:latin typeface="Arial" pitchFamily="34" charset="0"/>
                <a:cs typeface="Arial" pitchFamily="34" charset="-120"/>
              </a:rPr>
              <a:t>1CFSS / 1CFSQ</a:t>
            </a:r>
            <a:endParaRPr lang="en-US" sz="3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68579A7-0948-0429-D3C8-B022D9B0F0D7}"/>
              </a:ext>
            </a:extLst>
          </p:cNvPr>
          <p:cNvSpPr txBox="1"/>
          <p:nvPr/>
        </p:nvSpPr>
        <p:spPr>
          <a:xfrm>
            <a:off x="4194312" y="3087973"/>
            <a:ext cx="418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dirty="0">
                <a:latin typeface="Helvetica" pitchFamily="2" charset="0"/>
              </a:rPr>
              <a:t>Tarea Final · Defensa y Traspaso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8D5E6A9-AC68-5284-BFB4-71F273677077}"/>
              </a:ext>
            </a:extLst>
          </p:cNvPr>
          <p:cNvSpPr txBox="1"/>
          <p:nvPr/>
        </p:nvSpPr>
        <p:spPr>
          <a:xfrm>
            <a:off x="4194312" y="4980615"/>
            <a:ext cx="4184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dirty="0">
                <a:latin typeface="Helvetica" pitchFamily="2" charset="0"/>
              </a:rPr>
              <a:t>IES Severo Ochoa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B6150A6-8332-8C9E-C6B9-1A65A97EF4A2}"/>
              </a:ext>
            </a:extLst>
          </p:cNvPr>
          <p:cNvGrpSpPr/>
          <p:nvPr/>
        </p:nvGrpSpPr>
        <p:grpSpPr>
          <a:xfrm>
            <a:off x="4889247" y="2902533"/>
            <a:ext cx="3416870" cy="102237"/>
            <a:chOff x="4312759" y="3072668"/>
            <a:chExt cx="4065928" cy="201794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8A32241-5E8B-22C5-F9E6-6AEA1CD4CA50}"/>
                </a:ext>
              </a:extLst>
            </p:cNvPr>
            <p:cNvSpPr/>
            <p:nvPr/>
          </p:nvSpPr>
          <p:spPr>
            <a:xfrm>
              <a:off x="4312759" y="3072668"/>
              <a:ext cx="1975756" cy="2017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CCE0C6C8-0499-5C36-A607-39DED78B19C0}"/>
                </a:ext>
              </a:extLst>
            </p:cNvPr>
            <p:cNvSpPr/>
            <p:nvPr/>
          </p:nvSpPr>
          <p:spPr>
            <a:xfrm>
              <a:off x="6402931" y="3072668"/>
              <a:ext cx="1975756" cy="201794"/>
            </a:xfrm>
            <a:prstGeom prst="rect">
              <a:avLst/>
            </a:prstGeom>
            <a:solidFill>
              <a:srgbClr val="CC26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4AD19F6-FE61-CCB5-A16F-DC0F45E6F92E}"/>
              </a:ext>
            </a:extLst>
          </p:cNvPr>
          <p:cNvGrpSpPr/>
          <p:nvPr/>
        </p:nvGrpSpPr>
        <p:grpSpPr>
          <a:xfrm>
            <a:off x="4370391" y="4573616"/>
            <a:ext cx="1638070" cy="738665"/>
            <a:chOff x="4651215" y="4645659"/>
            <a:chExt cx="1327873" cy="598786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83E996C-FDAF-5F8C-BC7A-D8F42EF4B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7470" y="4660555"/>
              <a:ext cx="581618" cy="583890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C12FC1E2-12B7-0AB4-A6AB-4BE18393A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1215" y="4645659"/>
              <a:ext cx="612765" cy="5987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008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CFC68-9B08-C7B3-EBCE-C634A560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C53E4C7-B5C8-7C04-7824-CD3C594078E7}"/>
              </a:ext>
            </a:extLst>
          </p:cNvPr>
          <p:cNvSpPr txBox="1"/>
          <p:nvPr/>
        </p:nvSpPr>
        <p:spPr>
          <a:xfrm>
            <a:off x="406462" y="4832047"/>
            <a:ext cx="6704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200" dirty="0">
              <a:latin typeface="Helvetica" pitchFamily="2" charset="0"/>
            </a:endParaRPr>
          </a:p>
          <a:p>
            <a:r>
              <a:rPr lang="es-ES" sz="1200" dirty="0">
                <a:latin typeface="Helvetica" pitchFamily="2" charset="0"/>
              </a:rPr>
              <a:t>Felicitación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887DF6E-D484-195C-3378-95B3697810DA}"/>
              </a:ext>
            </a:extLst>
          </p:cNvPr>
          <p:cNvSpPr txBox="1"/>
          <p:nvPr/>
        </p:nvSpPr>
        <p:spPr>
          <a:xfrm>
            <a:off x="5138057" y="5028301"/>
            <a:ext cx="3546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2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6BEB553-C086-7072-3EA5-27494F121D06}"/>
              </a:ext>
            </a:extLst>
          </p:cNvPr>
          <p:cNvGrpSpPr/>
          <p:nvPr/>
        </p:nvGrpSpPr>
        <p:grpSpPr>
          <a:xfrm>
            <a:off x="406462" y="5335725"/>
            <a:ext cx="8331074" cy="45719"/>
            <a:chOff x="4312759" y="3072668"/>
            <a:chExt cx="4065928" cy="201794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494A9E54-1132-B87C-06E9-5D3067387076}"/>
                </a:ext>
              </a:extLst>
            </p:cNvPr>
            <p:cNvSpPr/>
            <p:nvPr/>
          </p:nvSpPr>
          <p:spPr>
            <a:xfrm>
              <a:off x="4312759" y="3072668"/>
              <a:ext cx="1975756" cy="2017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B08E3E52-0094-BAAB-4DA7-18F0A61B4B44}"/>
                </a:ext>
              </a:extLst>
            </p:cNvPr>
            <p:cNvSpPr/>
            <p:nvPr/>
          </p:nvSpPr>
          <p:spPr>
            <a:xfrm>
              <a:off x="6402931" y="3072668"/>
              <a:ext cx="1975756" cy="201794"/>
            </a:xfrm>
            <a:prstGeom prst="rect">
              <a:avLst/>
            </a:prstGeom>
            <a:solidFill>
              <a:srgbClr val="CC26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F23CABF-B97C-420A-9617-8418755D16E1}"/>
              </a:ext>
            </a:extLst>
          </p:cNvPr>
          <p:cNvSpPr txBox="1"/>
          <p:nvPr/>
        </p:nvSpPr>
        <p:spPr>
          <a:xfrm>
            <a:off x="1626786" y="623659"/>
            <a:ext cx="7110753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2400" b="1" dirty="0">
                <a:latin typeface="Helvetica" pitchFamily="2" charset="0"/>
              </a:rPr>
              <a:t>¡Enhorabuena por llegar hasta aquí!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43758B-51E7-7699-F641-867BFDEFD99D}"/>
              </a:ext>
            </a:extLst>
          </p:cNvPr>
          <p:cNvSpPr txBox="1"/>
          <p:nvPr/>
        </p:nvSpPr>
        <p:spPr>
          <a:xfrm>
            <a:off x="1246761" y="1808461"/>
            <a:ext cx="68981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El trabajo exploratorio de este primer curso en el proyecto intermodular ha terminado. Es hora de </a:t>
            </a:r>
            <a:r>
              <a:rPr lang="es-ES" sz="1600" b="1" dirty="0">
                <a:solidFill>
                  <a:srgbClr val="000000"/>
                </a:solidFill>
                <a:latin typeface="Helvetica" pitchFamily="2" charset="0"/>
              </a:rPr>
              <a:t>presentar las conclusiones</a:t>
            </a: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 y asentar los cimientos sobre los que trabajaréis en segundo.</a:t>
            </a:r>
          </a:p>
          <a:p>
            <a:pPr algn="just">
              <a:lnSpc>
                <a:spcPct val="140000"/>
              </a:lnSpc>
            </a:pP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A estas alturas ya sois plenamente conscientes del esfuerzo real que requiere el desarrollo de software, y este es el mejor punto de partida para lo que está por venir.</a:t>
            </a:r>
          </a:p>
          <a:p>
            <a:pPr algn="just">
              <a:lnSpc>
                <a:spcPct val="140000"/>
              </a:lnSpc>
            </a:pP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A continuación tenéis las instrucciones para la defensa final y el entregable técnico que la acompaña.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31A805E-846C-EBB4-1993-E98C018EDCC0}"/>
              </a:ext>
            </a:extLst>
          </p:cNvPr>
          <p:cNvGrpSpPr/>
          <p:nvPr/>
        </p:nvGrpSpPr>
        <p:grpSpPr>
          <a:xfrm>
            <a:off x="406462" y="379274"/>
            <a:ext cx="2535212" cy="777782"/>
            <a:chOff x="406462" y="379274"/>
            <a:chExt cx="2535212" cy="777782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1F59659-A7EF-1C5D-43DC-9B5E94BA6EDD}"/>
                </a:ext>
              </a:extLst>
            </p:cNvPr>
            <p:cNvSpPr txBox="1"/>
            <p:nvPr/>
          </p:nvSpPr>
          <p:spPr>
            <a:xfrm>
              <a:off x="916544" y="545675"/>
              <a:ext cx="637201" cy="372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IES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8F6403F-CAA0-41B6-DB05-B03A01F2D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6462" y="379274"/>
              <a:ext cx="637201" cy="672492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F91830C-5A12-7798-9440-2D293953B167}"/>
                </a:ext>
              </a:extLst>
            </p:cNvPr>
            <p:cNvSpPr txBox="1"/>
            <p:nvPr/>
          </p:nvSpPr>
          <p:spPr>
            <a:xfrm>
              <a:off x="916544" y="787724"/>
              <a:ext cx="2025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Severo Ochoa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040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4F9F9-6679-600F-0C4D-E41A73AFA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4E1E8B2-3587-12B0-CF04-4725184AAE7C}"/>
              </a:ext>
            </a:extLst>
          </p:cNvPr>
          <p:cNvSpPr txBox="1"/>
          <p:nvPr/>
        </p:nvSpPr>
        <p:spPr>
          <a:xfrm>
            <a:off x="406462" y="5011995"/>
            <a:ext cx="6704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Helvetica" pitchFamily="2" charset="0"/>
              </a:rPr>
              <a:t>Entregables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B362E1-D454-F6B6-B775-6094811B8B92}"/>
              </a:ext>
            </a:extLst>
          </p:cNvPr>
          <p:cNvSpPr txBox="1"/>
          <p:nvPr/>
        </p:nvSpPr>
        <p:spPr>
          <a:xfrm>
            <a:off x="5138057" y="5028301"/>
            <a:ext cx="3546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3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1E669B-E4DD-8C60-36FC-322779DC3987}"/>
              </a:ext>
            </a:extLst>
          </p:cNvPr>
          <p:cNvGrpSpPr/>
          <p:nvPr/>
        </p:nvGrpSpPr>
        <p:grpSpPr>
          <a:xfrm>
            <a:off x="406462" y="5335725"/>
            <a:ext cx="8331074" cy="45719"/>
            <a:chOff x="4312759" y="3072668"/>
            <a:chExt cx="4065928" cy="201794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1F3126B2-F399-48C7-A393-2F67EC814033}"/>
                </a:ext>
              </a:extLst>
            </p:cNvPr>
            <p:cNvSpPr/>
            <p:nvPr/>
          </p:nvSpPr>
          <p:spPr>
            <a:xfrm>
              <a:off x="4312759" y="3072668"/>
              <a:ext cx="1975756" cy="2017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7330309-770E-9ECF-C24F-D5673150BBE5}"/>
                </a:ext>
              </a:extLst>
            </p:cNvPr>
            <p:cNvSpPr/>
            <p:nvPr/>
          </p:nvSpPr>
          <p:spPr>
            <a:xfrm>
              <a:off x="6402931" y="3072668"/>
              <a:ext cx="1975756" cy="201794"/>
            </a:xfrm>
            <a:prstGeom prst="rect">
              <a:avLst/>
            </a:prstGeom>
            <a:solidFill>
              <a:srgbClr val="CC26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081EDB7-E58D-35CC-57C5-9DB808E3C222}"/>
              </a:ext>
            </a:extLst>
          </p:cNvPr>
          <p:cNvSpPr txBox="1"/>
          <p:nvPr/>
        </p:nvSpPr>
        <p:spPr>
          <a:xfrm>
            <a:off x="1626786" y="623659"/>
            <a:ext cx="7110753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2400" b="1" dirty="0">
                <a:latin typeface="Helvetica" pitchFamily="2" charset="0"/>
              </a:rPr>
              <a:t>En qué consiste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6FFDD0-21E5-EEF6-FD95-4E5E8BB4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38" y="2198033"/>
            <a:ext cx="5245100" cy="46970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DF68A0A-5EF2-6CF6-422D-3653FC91BFFD}"/>
              </a:ext>
            </a:extLst>
          </p:cNvPr>
          <p:cNvSpPr txBox="1"/>
          <p:nvPr/>
        </p:nvSpPr>
        <p:spPr>
          <a:xfrm>
            <a:off x="1661157" y="1992304"/>
            <a:ext cx="992224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3200" b="1" dirty="0">
                <a:latin typeface="Helvetica" pitchFamily="2" charset="0"/>
              </a:rPr>
              <a:t>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F9A756-0ABD-3F2C-B94C-B036C20F4B4E}"/>
              </a:ext>
            </a:extLst>
          </p:cNvPr>
          <p:cNvSpPr txBox="1"/>
          <p:nvPr/>
        </p:nvSpPr>
        <p:spPr>
          <a:xfrm>
            <a:off x="2484694" y="2218983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Defensa en vídeo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688DD08-63E4-CCAA-255F-96D74D3C1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748" y="3424895"/>
            <a:ext cx="5245100" cy="59272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663E8A4-60C3-141B-017B-2C8667E621E9}"/>
              </a:ext>
            </a:extLst>
          </p:cNvPr>
          <p:cNvSpPr txBox="1"/>
          <p:nvPr/>
        </p:nvSpPr>
        <p:spPr>
          <a:xfrm>
            <a:off x="1626786" y="3268171"/>
            <a:ext cx="992224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3200" b="1" dirty="0">
                <a:latin typeface="Helvetica" pitchFamily="2" charset="0"/>
              </a:rPr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E91F3AA-3B61-FCF2-6CD9-B91472FE34BB}"/>
              </a:ext>
            </a:extLst>
          </p:cNvPr>
          <p:cNvSpPr txBox="1"/>
          <p:nvPr/>
        </p:nvSpPr>
        <p:spPr>
          <a:xfrm>
            <a:off x="2457105" y="3527348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Entregable técnico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8D1D89C-C5FF-DC4D-DD83-446D6C7DF6AA}"/>
              </a:ext>
            </a:extLst>
          </p:cNvPr>
          <p:cNvGrpSpPr/>
          <p:nvPr/>
        </p:nvGrpSpPr>
        <p:grpSpPr>
          <a:xfrm>
            <a:off x="406462" y="379274"/>
            <a:ext cx="2535212" cy="777782"/>
            <a:chOff x="406462" y="379274"/>
            <a:chExt cx="2535212" cy="777782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AA8F1FB-CF7D-AF2C-E15D-C24F0E38B65C}"/>
                </a:ext>
              </a:extLst>
            </p:cNvPr>
            <p:cNvSpPr txBox="1"/>
            <p:nvPr/>
          </p:nvSpPr>
          <p:spPr>
            <a:xfrm>
              <a:off x="916544" y="545675"/>
              <a:ext cx="637201" cy="372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IES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2621E181-FD04-4029-7623-EFEF4FBE8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62" y="379274"/>
              <a:ext cx="637201" cy="672492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8746C71-0451-560C-3BD3-1A479200490F}"/>
                </a:ext>
              </a:extLst>
            </p:cNvPr>
            <p:cNvSpPr txBox="1"/>
            <p:nvPr/>
          </p:nvSpPr>
          <p:spPr>
            <a:xfrm>
              <a:off x="916544" y="787724"/>
              <a:ext cx="2025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Severo Ochoa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3BF9B1EB-0BD5-C0CA-E416-FC111695EC52}"/>
              </a:ext>
            </a:extLst>
          </p:cNvPr>
          <p:cNvSpPr txBox="1"/>
          <p:nvPr/>
        </p:nvSpPr>
        <p:spPr>
          <a:xfrm>
            <a:off x="1122949" y="1399105"/>
            <a:ext cx="6898102" cy="742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Consta de dos partes: La defensa y la organización de los entregables juntos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225ABD-93C3-40A2-18A9-AAC331D4C691}"/>
              </a:ext>
            </a:extLst>
          </p:cNvPr>
          <p:cNvSpPr txBox="1"/>
          <p:nvPr/>
        </p:nvSpPr>
        <p:spPr>
          <a:xfrm>
            <a:off x="1043663" y="2647391"/>
            <a:ext cx="7205961" cy="379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600" dirty="0">
                <a:solidFill>
                  <a:srgbClr val="000000"/>
                </a:solidFill>
                <a:latin typeface="Helvetica" pitchFamily="2" charset="0"/>
              </a:rPr>
              <a:t>Grabación de </a:t>
            </a:r>
            <a:r>
              <a:rPr lang="es-ES" sz="1600" b="1" dirty="0">
                <a:solidFill>
                  <a:srgbClr val="000000"/>
                </a:solidFill>
                <a:latin typeface="Helvetica" pitchFamily="2" charset="0"/>
              </a:rPr>
              <a:t>3 a 8 minutos</a:t>
            </a:r>
            <a:r>
              <a:rPr lang="es-ES" sz="1600" dirty="0">
                <a:solidFill>
                  <a:srgbClr val="000000"/>
                </a:solidFill>
                <a:latin typeface="Helvetica" pitchFamily="2" charset="0"/>
              </a:rPr>
              <a:t> apoyada en una presentación de 6 diapositivas.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EA49BBC-C900-2FBA-100C-00DD60EE79F7}"/>
              </a:ext>
            </a:extLst>
          </p:cNvPr>
          <p:cNvSpPr txBox="1"/>
          <p:nvPr/>
        </p:nvSpPr>
        <p:spPr>
          <a:xfrm>
            <a:off x="1043664" y="3932819"/>
            <a:ext cx="7205960" cy="1019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Organización en GitHub con el código migrado, </a:t>
            </a:r>
            <a:r>
              <a:rPr lang="es-ES" sz="1600" b="1" dirty="0">
                <a:solidFill>
                  <a:srgbClr val="000000"/>
                </a:solidFill>
                <a:latin typeface="Helvetica" pitchFamily="2" charset="0"/>
              </a:rPr>
              <a:t>README.md</a:t>
            </a: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 claro y el equipo docente invitado. Crea los repositorios que consideres necesarios pero todos </a:t>
            </a:r>
            <a:r>
              <a:rPr lang="es-ES" sz="1600" b="1" dirty="0">
                <a:solidFill>
                  <a:srgbClr val="000000"/>
                </a:solidFill>
                <a:latin typeface="Helvetica" pitchFamily="2" charset="0"/>
              </a:rPr>
              <a:t>DENTRO</a:t>
            </a:r>
            <a:r>
              <a:rPr lang="es-ES" sz="1600" b="0" dirty="0">
                <a:solidFill>
                  <a:srgbClr val="000000"/>
                </a:solidFill>
                <a:latin typeface="Helvetica" pitchFamily="2" charset="0"/>
              </a:rPr>
              <a:t> de la organización</a:t>
            </a:r>
          </a:p>
        </p:txBody>
      </p:sp>
    </p:spTree>
    <p:extLst>
      <p:ext uri="{BB962C8B-B14F-4D97-AF65-F5344CB8AC3E}">
        <p14:creationId xmlns:p14="http://schemas.microsoft.com/office/powerpoint/2010/main" val="291271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4F9F9-6679-600F-0C4D-E41A73AFA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4E1E8B2-3587-12B0-CF04-4725184AAE7C}"/>
              </a:ext>
            </a:extLst>
          </p:cNvPr>
          <p:cNvSpPr txBox="1"/>
          <p:nvPr/>
        </p:nvSpPr>
        <p:spPr>
          <a:xfrm>
            <a:off x="406462" y="5058903"/>
            <a:ext cx="6704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latin typeface="Helvetica" pitchFamily="2" charset="0"/>
              </a:rPr>
              <a:t>PoC</a:t>
            </a:r>
            <a:r>
              <a:rPr lang="es-ES" sz="1050" dirty="0">
                <a:latin typeface="Helvetica" pitchFamily="2" charset="0"/>
              </a:rPr>
              <a:t>: </a:t>
            </a:r>
            <a:r>
              <a:rPr lang="es-ES" sz="1050" dirty="0" err="1">
                <a:latin typeface="Helvetica" pitchFamily="2" charset="0"/>
              </a:rPr>
              <a:t>Proof</a:t>
            </a:r>
            <a:r>
              <a:rPr lang="es-ES" sz="1050" dirty="0">
                <a:latin typeface="Helvetica" pitchFamily="2" charset="0"/>
              </a:rPr>
              <a:t> </a:t>
            </a:r>
            <a:r>
              <a:rPr lang="es-ES" sz="1050" dirty="0" err="1">
                <a:latin typeface="Helvetica" pitchFamily="2" charset="0"/>
              </a:rPr>
              <a:t>of</a:t>
            </a:r>
            <a:r>
              <a:rPr lang="es-ES" sz="1050" dirty="0">
                <a:latin typeface="Helvetica" pitchFamily="2" charset="0"/>
              </a:rPr>
              <a:t> Concept. Básicamente el demostrador (aplicación básica) que has construido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B362E1-D454-F6B6-B775-6094811B8B92}"/>
              </a:ext>
            </a:extLst>
          </p:cNvPr>
          <p:cNvSpPr txBox="1"/>
          <p:nvPr/>
        </p:nvSpPr>
        <p:spPr>
          <a:xfrm>
            <a:off x="5138057" y="5028301"/>
            <a:ext cx="3546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4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1E669B-E4DD-8C60-36FC-322779DC3987}"/>
              </a:ext>
            </a:extLst>
          </p:cNvPr>
          <p:cNvGrpSpPr/>
          <p:nvPr/>
        </p:nvGrpSpPr>
        <p:grpSpPr>
          <a:xfrm>
            <a:off x="406462" y="5335725"/>
            <a:ext cx="8331074" cy="45719"/>
            <a:chOff x="4312759" y="3072668"/>
            <a:chExt cx="4065928" cy="201794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1F3126B2-F399-48C7-A393-2F67EC814033}"/>
                </a:ext>
              </a:extLst>
            </p:cNvPr>
            <p:cNvSpPr/>
            <p:nvPr/>
          </p:nvSpPr>
          <p:spPr>
            <a:xfrm>
              <a:off x="4312759" y="3072668"/>
              <a:ext cx="1975756" cy="2017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7330309-770E-9ECF-C24F-D5673150BBE5}"/>
                </a:ext>
              </a:extLst>
            </p:cNvPr>
            <p:cNvSpPr/>
            <p:nvPr/>
          </p:nvSpPr>
          <p:spPr>
            <a:xfrm>
              <a:off x="6402931" y="3072668"/>
              <a:ext cx="1975756" cy="201794"/>
            </a:xfrm>
            <a:prstGeom prst="rect">
              <a:avLst/>
            </a:prstGeom>
            <a:solidFill>
              <a:srgbClr val="CC26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081EDB7-E58D-35CC-57C5-9DB808E3C222}"/>
              </a:ext>
            </a:extLst>
          </p:cNvPr>
          <p:cNvSpPr txBox="1"/>
          <p:nvPr/>
        </p:nvSpPr>
        <p:spPr>
          <a:xfrm>
            <a:off x="1626786" y="623659"/>
            <a:ext cx="7110753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2400" b="1" dirty="0">
                <a:highlight>
                  <a:srgbClr val="FFFF00"/>
                </a:highlight>
                <a:latin typeface="Helvetica" pitchFamily="2" charset="0"/>
              </a:rPr>
              <a:t>Vídeo</a:t>
            </a:r>
            <a:r>
              <a:rPr lang="es-ES" sz="2400" b="1" dirty="0">
                <a:latin typeface="Helvetica" pitchFamily="2" charset="0"/>
              </a:rPr>
              <a:t> · Slides 1 y 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6FFDD0-21E5-EEF6-FD95-4E5E8BB4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2095687"/>
            <a:ext cx="5245100" cy="59272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DF68A0A-5EF2-6CF6-422D-3653FC91BFFD}"/>
              </a:ext>
            </a:extLst>
          </p:cNvPr>
          <p:cNvSpPr txBox="1"/>
          <p:nvPr/>
        </p:nvSpPr>
        <p:spPr>
          <a:xfrm>
            <a:off x="2182207" y="1966549"/>
            <a:ext cx="992224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3200" b="1">
                <a:latin typeface="Helvetica" pitchFamily="2" charset="0"/>
              </a:rPr>
              <a:t>1</a:t>
            </a:r>
            <a:endParaRPr lang="es-ES" sz="3200" b="1" dirty="0">
              <a:latin typeface="Helvetica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F9A756-0ABD-3F2C-B94C-B036C20F4B4E}"/>
              </a:ext>
            </a:extLst>
          </p:cNvPr>
          <p:cNvSpPr txBox="1"/>
          <p:nvPr/>
        </p:nvSpPr>
        <p:spPr>
          <a:xfrm>
            <a:off x="2980807" y="2196685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Bienvenida y presentación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688DD08-63E4-CCAA-255F-96D74D3C1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49" y="3110843"/>
            <a:ext cx="5565255" cy="81145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663E8A4-60C3-141B-017B-2C8667E621E9}"/>
              </a:ext>
            </a:extLst>
          </p:cNvPr>
          <p:cNvSpPr txBox="1"/>
          <p:nvPr/>
        </p:nvSpPr>
        <p:spPr>
          <a:xfrm>
            <a:off x="2182207" y="3006004"/>
            <a:ext cx="992224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3200" b="1" dirty="0">
                <a:latin typeface="Helvetica" pitchFamily="2" charset="0"/>
              </a:rPr>
              <a:t>2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E91F3AA-3B61-FCF2-6CD9-B91472FE34BB}"/>
              </a:ext>
            </a:extLst>
          </p:cNvPr>
          <p:cNvSpPr txBox="1"/>
          <p:nvPr/>
        </p:nvSpPr>
        <p:spPr>
          <a:xfrm>
            <a:off x="2980807" y="3213296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El Tour (PoC)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8D1D89C-C5FF-DC4D-DD83-446D6C7DF6AA}"/>
              </a:ext>
            </a:extLst>
          </p:cNvPr>
          <p:cNvGrpSpPr/>
          <p:nvPr/>
        </p:nvGrpSpPr>
        <p:grpSpPr>
          <a:xfrm>
            <a:off x="406462" y="379274"/>
            <a:ext cx="2535212" cy="777782"/>
            <a:chOff x="406462" y="379274"/>
            <a:chExt cx="2535212" cy="777782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AA8F1FB-CF7D-AF2C-E15D-C24F0E38B65C}"/>
                </a:ext>
              </a:extLst>
            </p:cNvPr>
            <p:cNvSpPr txBox="1"/>
            <p:nvPr/>
          </p:nvSpPr>
          <p:spPr>
            <a:xfrm>
              <a:off x="916544" y="545675"/>
              <a:ext cx="637201" cy="372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IES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2621E181-FD04-4029-7623-EFEF4FBE8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62" y="379274"/>
              <a:ext cx="637201" cy="672492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8746C71-0451-560C-3BD3-1A479200490F}"/>
                </a:ext>
              </a:extLst>
            </p:cNvPr>
            <p:cNvSpPr txBox="1"/>
            <p:nvPr/>
          </p:nvSpPr>
          <p:spPr>
            <a:xfrm>
              <a:off x="916544" y="787724"/>
              <a:ext cx="2025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Severo Ochoa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CFB5A969-34FC-D764-A1C2-4C370C553F27}"/>
              </a:ext>
            </a:extLst>
          </p:cNvPr>
          <p:cNvSpPr txBox="1"/>
          <p:nvPr/>
        </p:nvSpPr>
        <p:spPr>
          <a:xfrm>
            <a:off x="1005729" y="2608141"/>
            <a:ext cx="6898102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400" dirty="0">
                <a:solidFill>
                  <a:srgbClr val="000000"/>
                </a:solidFill>
                <a:latin typeface="Helvetica" pitchFamily="2" charset="0"/>
              </a:rPr>
              <a:t>Preséntate e introduce la tarea que iniciaste con tu sistema de gestión de reservas.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32B1834-D6CC-C10D-0B1D-41E2A6C99C9E}"/>
              </a:ext>
            </a:extLst>
          </p:cNvPr>
          <p:cNvSpPr txBox="1"/>
          <p:nvPr/>
        </p:nvSpPr>
        <p:spPr>
          <a:xfrm>
            <a:off x="1043663" y="1410245"/>
            <a:ext cx="7110752" cy="53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s-ES" sz="1100" b="0" dirty="0">
                <a:solidFill>
                  <a:srgbClr val="000000"/>
                </a:solidFill>
                <a:latin typeface="Helvetica" pitchFamily="2" charset="0"/>
              </a:rPr>
              <a:t>Recuerda que consiste en una presentación breve (3-8 min) por lo que tampoco te entretengas demasiado. Si nos queda alguna duda desde el equipo docente nos pondremos en contacto contigo.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2A62C16-ABA7-96E1-7F30-22120DCD9A4C}"/>
              </a:ext>
            </a:extLst>
          </p:cNvPr>
          <p:cNvSpPr txBox="1"/>
          <p:nvPr/>
        </p:nvSpPr>
        <p:spPr>
          <a:xfrm>
            <a:off x="1049901" y="3937514"/>
            <a:ext cx="7278634" cy="903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400" dirty="0">
                <a:solidFill>
                  <a:srgbClr val="000000"/>
                </a:solidFill>
                <a:latin typeface="Helvetica" pitchFamily="2" charset="0"/>
              </a:rPr>
              <a:t>Recorrido </a:t>
            </a: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breve</a:t>
            </a:r>
            <a:r>
              <a:rPr lang="es-ES" sz="1400" dirty="0">
                <a:solidFill>
                  <a:srgbClr val="000000"/>
                </a:solidFill>
                <a:latin typeface="Helvetica" pitchFamily="2" charset="0"/>
              </a:rPr>
              <a:t> por lo hecho hasta ahora. Detente más en lo que consideres más importante (p. ej. BD y Java). Incluye una </a:t>
            </a:r>
            <a:r>
              <a:rPr lang="es-ES" sz="1400" dirty="0" err="1">
                <a:solidFill>
                  <a:srgbClr val="000000"/>
                </a:solidFill>
                <a:latin typeface="Helvetica" pitchFamily="2" charset="0"/>
              </a:rPr>
              <a:t>mini-demo</a:t>
            </a:r>
            <a:r>
              <a:rPr lang="es-ES" sz="1400" dirty="0">
                <a:solidFill>
                  <a:srgbClr val="000000"/>
                </a:solidFill>
                <a:latin typeface="Helvetica" pitchFamily="2" charset="0"/>
              </a:rPr>
              <a:t> en vivo. Ten todo listo antes de empezar a grabar.</a:t>
            </a:r>
          </a:p>
        </p:txBody>
      </p:sp>
    </p:spTree>
    <p:extLst>
      <p:ext uri="{BB962C8B-B14F-4D97-AF65-F5344CB8AC3E}">
        <p14:creationId xmlns:p14="http://schemas.microsoft.com/office/powerpoint/2010/main" val="291271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56ED-ADD4-FAF0-09F2-8162552E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97BDBF9-0A26-95D5-F89C-0EB5CB4A7784}"/>
              </a:ext>
            </a:extLst>
          </p:cNvPr>
          <p:cNvSpPr txBox="1"/>
          <p:nvPr/>
        </p:nvSpPr>
        <p:spPr>
          <a:xfrm>
            <a:off x="406462" y="5058903"/>
            <a:ext cx="6704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latin typeface="Helvetica" pitchFamily="2" charset="0"/>
              </a:rPr>
              <a:t>PoC</a:t>
            </a:r>
            <a:r>
              <a:rPr lang="es-ES" sz="1050" dirty="0">
                <a:latin typeface="Helvetica" pitchFamily="2" charset="0"/>
              </a:rPr>
              <a:t>: </a:t>
            </a:r>
            <a:r>
              <a:rPr lang="es-ES" sz="1050" dirty="0" err="1">
                <a:latin typeface="Helvetica" pitchFamily="2" charset="0"/>
              </a:rPr>
              <a:t>Proof</a:t>
            </a:r>
            <a:r>
              <a:rPr lang="es-ES" sz="1050" dirty="0">
                <a:latin typeface="Helvetica" pitchFamily="2" charset="0"/>
              </a:rPr>
              <a:t> </a:t>
            </a:r>
            <a:r>
              <a:rPr lang="es-ES" sz="1050" dirty="0" err="1">
                <a:latin typeface="Helvetica" pitchFamily="2" charset="0"/>
              </a:rPr>
              <a:t>of</a:t>
            </a:r>
            <a:r>
              <a:rPr lang="es-ES" sz="1050" dirty="0">
                <a:latin typeface="Helvetica" pitchFamily="2" charset="0"/>
              </a:rPr>
              <a:t> Concept. Básicamente el demostrador (aplicación básica) que has construido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497570A-FD32-CCA7-1163-974C1D46FBB4}"/>
              </a:ext>
            </a:extLst>
          </p:cNvPr>
          <p:cNvGrpSpPr/>
          <p:nvPr/>
        </p:nvGrpSpPr>
        <p:grpSpPr>
          <a:xfrm>
            <a:off x="406462" y="5335725"/>
            <a:ext cx="8331074" cy="45719"/>
            <a:chOff x="4312759" y="3072668"/>
            <a:chExt cx="4065928" cy="201794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2AA12E2-E438-0975-ACE9-F3D7443E6E7C}"/>
                </a:ext>
              </a:extLst>
            </p:cNvPr>
            <p:cNvSpPr/>
            <p:nvPr/>
          </p:nvSpPr>
          <p:spPr>
            <a:xfrm>
              <a:off x="4312759" y="3072668"/>
              <a:ext cx="1975756" cy="2017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56FEB25-7C1B-C7C8-F189-706FA1C8A33B}"/>
                </a:ext>
              </a:extLst>
            </p:cNvPr>
            <p:cNvSpPr/>
            <p:nvPr/>
          </p:nvSpPr>
          <p:spPr>
            <a:xfrm>
              <a:off x="6402931" y="3072668"/>
              <a:ext cx="1975756" cy="201794"/>
            </a:xfrm>
            <a:prstGeom prst="rect">
              <a:avLst/>
            </a:prstGeom>
            <a:solidFill>
              <a:srgbClr val="CC26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98BF0C1-3A6F-139D-21C2-99ACA58DEB80}"/>
              </a:ext>
            </a:extLst>
          </p:cNvPr>
          <p:cNvSpPr txBox="1"/>
          <p:nvPr/>
        </p:nvSpPr>
        <p:spPr>
          <a:xfrm>
            <a:off x="1626786" y="623659"/>
            <a:ext cx="7110753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2400" b="1" dirty="0">
                <a:highlight>
                  <a:srgbClr val="FFFF00"/>
                </a:highlight>
                <a:latin typeface="Helvetica" pitchFamily="2" charset="0"/>
              </a:rPr>
              <a:t>Vídeo</a:t>
            </a:r>
            <a:r>
              <a:rPr lang="es-ES" sz="2400" b="1" dirty="0">
                <a:latin typeface="Helvetica" pitchFamily="2" charset="0"/>
              </a:rPr>
              <a:t> · </a:t>
            </a:r>
            <a:r>
              <a:rPr lang="es-ES" sz="2400" b="1" dirty="0" err="1">
                <a:latin typeface="Helvetica" pitchFamily="2" charset="0"/>
              </a:rPr>
              <a:t>Slides</a:t>
            </a:r>
            <a:r>
              <a:rPr lang="es-ES" sz="2400" b="1" dirty="0">
                <a:latin typeface="Helvetica" pitchFamily="2" charset="0"/>
              </a:rPr>
              <a:t> 3 y 4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D56494-76DF-119C-B418-CCB1FC6B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1571986"/>
            <a:ext cx="5245100" cy="59272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534C8F-4115-5190-27B6-7B0A817CA329}"/>
              </a:ext>
            </a:extLst>
          </p:cNvPr>
          <p:cNvSpPr txBox="1"/>
          <p:nvPr/>
        </p:nvSpPr>
        <p:spPr>
          <a:xfrm>
            <a:off x="2182207" y="1442848"/>
            <a:ext cx="992224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3200" b="1" dirty="0">
                <a:latin typeface="Helvetica" pitchFamily="2" charset="0"/>
              </a:rPr>
              <a:t>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A3D150-CDAB-CE3A-EA6F-00C118BA310D}"/>
              </a:ext>
            </a:extLst>
          </p:cNvPr>
          <p:cNvSpPr txBox="1"/>
          <p:nvPr/>
        </p:nvSpPr>
        <p:spPr>
          <a:xfrm>
            <a:off x="2980807" y="1672984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Transición a requisitos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92B09A-0ECE-D378-C0BF-B24FF5C1B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49" y="2587142"/>
            <a:ext cx="5565255" cy="81145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8F5AE07-B489-0F7C-A4F3-5035E651EADB}"/>
              </a:ext>
            </a:extLst>
          </p:cNvPr>
          <p:cNvSpPr txBox="1"/>
          <p:nvPr/>
        </p:nvSpPr>
        <p:spPr>
          <a:xfrm>
            <a:off x="2182207" y="2514397"/>
            <a:ext cx="992224" cy="739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3200" b="1" dirty="0">
                <a:latin typeface="Helvetica" pitchFamily="2" charset="0"/>
              </a:rPr>
              <a:t>4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5DC0A4F-CD27-E484-75BF-44F80459D925}"/>
              </a:ext>
            </a:extLst>
          </p:cNvPr>
          <p:cNvSpPr txBox="1"/>
          <p:nvPr/>
        </p:nvSpPr>
        <p:spPr>
          <a:xfrm>
            <a:off x="2980807" y="2748861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Tareas y </a:t>
            </a:r>
            <a:r>
              <a:rPr lang="es-ES" sz="1400" b="1" dirty="0" err="1">
                <a:solidFill>
                  <a:srgbClr val="000000"/>
                </a:solidFill>
                <a:latin typeface="Helvetica" pitchFamily="2" charset="0"/>
              </a:rPr>
              <a:t>roadmap</a:t>
            </a:r>
            <a:endParaRPr lang="es-ES" sz="1400" b="1" dirty="0">
              <a:solidFill>
                <a:srgbClr val="000000"/>
              </a:solidFill>
              <a:latin typeface="Helvetica" pitchFamily="2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252E042-E26F-958A-19B4-9516FB1F12AB}"/>
              </a:ext>
            </a:extLst>
          </p:cNvPr>
          <p:cNvGrpSpPr/>
          <p:nvPr/>
        </p:nvGrpSpPr>
        <p:grpSpPr>
          <a:xfrm>
            <a:off x="406462" y="379274"/>
            <a:ext cx="2535212" cy="777782"/>
            <a:chOff x="406462" y="379274"/>
            <a:chExt cx="2535212" cy="777782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B38849BC-F839-1EF0-1672-E1FA9090F46C}"/>
                </a:ext>
              </a:extLst>
            </p:cNvPr>
            <p:cNvSpPr txBox="1"/>
            <p:nvPr/>
          </p:nvSpPr>
          <p:spPr>
            <a:xfrm>
              <a:off x="916544" y="545675"/>
              <a:ext cx="637201" cy="372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IES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AF3FEC3B-0B0B-F389-9F5B-CB9C723AC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62" y="379274"/>
              <a:ext cx="637201" cy="672492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D88AF08-1E91-0C88-F7BC-91F95CE84A9C}"/>
                </a:ext>
              </a:extLst>
            </p:cNvPr>
            <p:cNvSpPr txBox="1"/>
            <p:nvPr/>
          </p:nvSpPr>
          <p:spPr>
            <a:xfrm>
              <a:off x="916544" y="787724"/>
              <a:ext cx="2025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Severo Ochoa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29B727CC-C2B5-DC6B-F5C4-03D722C9330F}"/>
              </a:ext>
            </a:extLst>
          </p:cNvPr>
          <p:cNvSpPr txBox="1"/>
          <p:nvPr/>
        </p:nvSpPr>
        <p:spPr>
          <a:xfrm>
            <a:off x="1005729" y="2084440"/>
            <a:ext cx="6898102" cy="547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200" dirty="0">
                <a:solidFill>
                  <a:srgbClr val="000000"/>
                </a:solidFill>
                <a:latin typeface="Helvetica" pitchFamily="2" charset="0"/>
              </a:rPr>
              <a:t>Tras el MVP, plantea de qué va tu aplicación final: requisitos, qué problemas resuelve y por qué es relevante.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189A1C-B609-B2C8-047A-3CD2C8D6CFCA}"/>
              </a:ext>
            </a:extLst>
          </p:cNvPr>
          <p:cNvSpPr txBox="1"/>
          <p:nvPr/>
        </p:nvSpPr>
        <p:spPr>
          <a:xfrm>
            <a:off x="1049901" y="3413813"/>
            <a:ext cx="7278634" cy="787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200" dirty="0">
                <a:solidFill>
                  <a:srgbClr val="000000"/>
                </a:solidFill>
                <a:latin typeface="Helvetica" pitchFamily="2" charset="0"/>
              </a:rPr>
              <a:t>Sobre el esqueleto actual: ¿qué cambiarías? ¿Qué partes harías cero? Qué te preocupa del salto a segundo y qué tienes claro. Recuerda que tanto reutilizar (total o parcialmente) como desechar un prototipo y empezar de cero con lo aprendido son finales válido.</a:t>
            </a:r>
          </a:p>
        </p:txBody>
      </p:sp>
      <p:pic>
        <p:nvPicPr>
          <p:cNvPr id="22" name="Gráfico 21" descr="Advertencia con relleno sólido">
            <a:extLst>
              <a:ext uri="{FF2B5EF4-FFF2-40B4-BE49-F238E27FC236}">
                <a16:creationId xmlns:a16="http://schemas.microsoft.com/office/drawing/2014/main" id="{30AB7A87-D650-AF2E-1D63-00B4202AB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595" y="4216613"/>
            <a:ext cx="693300" cy="693300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DAA09F6-D71E-2CC9-2C61-3169696E7085}"/>
              </a:ext>
            </a:extLst>
          </p:cNvPr>
          <p:cNvSpPr txBox="1"/>
          <p:nvPr/>
        </p:nvSpPr>
        <p:spPr>
          <a:xfrm>
            <a:off x="1679895" y="4289502"/>
            <a:ext cx="6608591" cy="547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200" dirty="0">
                <a:solidFill>
                  <a:srgbClr val="000000"/>
                </a:solidFill>
                <a:latin typeface="Helvetica" pitchFamily="2" charset="0"/>
              </a:rPr>
              <a:t>Aprovecha para comentar aquí si te gustaría investigar algún tema concreto avanzado/actual que integrar en tu proyecto, incluso si no es parte del currículo del ciclo formativo.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6569DBE-DC3B-2C0A-9D1C-56D2DA6C2C7F}"/>
              </a:ext>
            </a:extLst>
          </p:cNvPr>
          <p:cNvSpPr txBox="1"/>
          <p:nvPr/>
        </p:nvSpPr>
        <p:spPr>
          <a:xfrm>
            <a:off x="5138057" y="5028301"/>
            <a:ext cx="3546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7639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4F9F9-6679-600F-0C4D-E41A73AFA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4E1E8B2-3587-12B0-CF04-4725184AAE7C}"/>
              </a:ext>
            </a:extLst>
          </p:cNvPr>
          <p:cNvSpPr txBox="1"/>
          <p:nvPr/>
        </p:nvSpPr>
        <p:spPr>
          <a:xfrm>
            <a:off x="406462" y="4832047"/>
            <a:ext cx="6704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Helvetica" pitchFamily="2" charset="0"/>
              </a:rPr>
              <a:t>Resultados de aprendizaje </a:t>
            </a:r>
          </a:p>
          <a:p>
            <a:r>
              <a:rPr lang="es-ES" sz="1200" dirty="0">
                <a:latin typeface="Helvetica" pitchFamily="2" charset="0"/>
              </a:rPr>
              <a:t>y criterios de evaluación para </a:t>
            </a:r>
            <a:r>
              <a:rPr lang="es-ES" sz="1200" dirty="0" err="1">
                <a:latin typeface="Helvetica" pitchFamily="2" charset="0"/>
              </a:rPr>
              <a:t>dummies</a:t>
            </a:r>
            <a:endParaRPr lang="es-ES" sz="1200" dirty="0">
              <a:latin typeface="Helvetica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EB362E1-D454-F6B6-B775-6094811B8B92}"/>
              </a:ext>
            </a:extLst>
          </p:cNvPr>
          <p:cNvSpPr txBox="1"/>
          <p:nvPr/>
        </p:nvSpPr>
        <p:spPr>
          <a:xfrm>
            <a:off x="5138057" y="5028301"/>
            <a:ext cx="3546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6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1E669B-E4DD-8C60-36FC-322779DC3987}"/>
              </a:ext>
            </a:extLst>
          </p:cNvPr>
          <p:cNvGrpSpPr/>
          <p:nvPr/>
        </p:nvGrpSpPr>
        <p:grpSpPr>
          <a:xfrm>
            <a:off x="406462" y="5335725"/>
            <a:ext cx="8331074" cy="45719"/>
            <a:chOff x="4312759" y="3072668"/>
            <a:chExt cx="4065928" cy="201794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1F3126B2-F399-48C7-A393-2F67EC814033}"/>
                </a:ext>
              </a:extLst>
            </p:cNvPr>
            <p:cNvSpPr/>
            <p:nvPr/>
          </p:nvSpPr>
          <p:spPr>
            <a:xfrm>
              <a:off x="4312759" y="3072668"/>
              <a:ext cx="1975756" cy="2017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7330309-770E-9ECF-C24F-D5673150BBE5}"/>
                </a:ext>
              </a:extLst>
            </p:cNvPr>
            <p:cNvSpPr/>
            <p:nvPr/>
          </p:nvSpPr>
          <p:spPr>
            <a:xfrm>
              <a:off x="6402931" y="3072668"/>
              <a:ext cx="1975756" cy="201794"/>
            </a:xfrm>
            <a:prstGeom prst="rect">
              <a:avLst/>
            </a:prstGeom>
            <a:solidFill>
              <a:srgbClr val="CC26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081EDB7-E58D-35CC-57C5-9DB808E3C222}"/>
              </a:ext>
            </a:extLst>
          </p:cNvPr>
          <p:cNvSpPr txBox="1"/>
          <p:nvPr/>
        </p:nvSpPr>
        <p:spPr>
          <a:xfrm>
            <a:off x="1626786" y="623659"/>
            <a:ext cx="7110753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2400" b="1" dirty="0">
                <a:highlight>
                  <a:srgbClr val="FFFF00"/>
                </a:highlight>
                <a:latin typeface="Helvetica" pitchFamily="2" charset="0"/>
              </a:rPr>
              <a:t>Vídeo</a:t>
            </a:r>
            <a:r>
              <a:rPr lang="es-ES" sz="2400" b="1" dirty="0">
                <a:latin typeface="Helvetica" pitchFamily="2" charset="0"/>
              </a:rPr>
              <a:t> · Slides 5 y 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6FFDD0-21E5-EEF6-FD95-4E5E8BB4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50" y="1840044"/>
            <a:ext cx="5245100" cy="59272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DF68A0A-5EF2-6CF6-422D-3653FC91BFFD}"/>
              </a:ext>
            </a:extLst>
          </p:cNvPr>
          <p:cNvSpPr txBox="1"/>
          <p:nvPr/>
        </p:nvSpPr>
        <p:spPr>
          <a:xfrm>
            <a:off x="2215457" y="1724436"/>
            <a:ext cx="992224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3200" b="1" dirty="0">
                <a:latin typeface="Helvetica" pitchFamily="2" charset="0"/>
              </a:rPr>
              <a:t>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F9A756-0ABD-3F2C-B94C-B036C20F4B4E}"/>
              </a:ext>
            </a:extLst>
          </p:cNvPr>
          <p:cNvSpPr txBox="1"/>
          <p:nvPr/>
        </p:nvSpPr>
        <p:spPr>
          <a:xfrm>
            <a:off x="2980807" y="1930678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Trabajo en equipo – escalando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688DD08-63E4-CCAA-255F-96D74D3C1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50" y="3441092"/>
            <a:ext cx="5245100" cy="63248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663E8A4-60C3-141B-017B-2C8667E621E9}"/>
              </a:ext>
            </a:extLst>
          </p:cNvPr>
          <p:cNvSpPr txBox="1"/>
          <p:nvPr/>
        </p:nvSpPr>
        <p:spPr>
          <a:xfrm>
            <a:off x="2215457" y="3289852"/>
            <a:ext cx="992224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3200" b="1" dirty="0">
                <a:latin typeface="Helvetica" pitchFamily="2" charset="0"/>
              </a:rPr>
              <a:t>6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E91F3AA-3B61-FCF2-6CD9-B91472FE34BB}"/>
              </a:ext>
            </a:extLst>
          </p:cNvPr>
          <p:cNvSpPr txBox="1"/>
          <p:nvPr/>
        </p:nvSpPr>
        <p:spPr>
          <a:xfrm>
            <a:off x="2980807" y="3543545"/>
            <a:ext cx="3813397" cy="34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s-ES" sz="1400" b="1" dirty="0">
                <a:solidFill>
                  <a:srgbClr val="000000"/>
                </a:solidFill>
                <a:latin typeface="Helvetica" pitchFamily="2" charset="0"/>
              </a:rPr>
              <a:t>Cierre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8D1D89C-C5FF-DC4D-DD83-446D6C7DF6AA}"/>
              </a:ext>
            </a:extLst>
          </p:cNvPr>
          <p:cNvGrpSpPr/>
          <p:nvPr/>
        </p:nvGrpSpPr>
        <p:grpSpPr>
          <a:xfrm>
            <a:off x="406462" y="379274"/>
            <a:ext cx="2535212" cy="777782"/>
            <a:chOff x="406462" y="379274"/>
            <a:chExt cx="2535212" cy="777782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AA8F1FB-CF7D-AF2C-E15D-C24F0E38B65C}"/>
                </a:ext>
              </a:extLst>
            </p:cNvPr>
            <p:cNvSpPr txBox="1"/>
            <p:nvPr/>
          </p:nvSpPr>
          <p:spPr>
            <a:xfrm>
              <a:off x="916544" y="545675"/>
              <a:ext cx="637201" cy="372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IES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2621E181-FD04-4029-7623-EFEF4FBE8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62" y="379274"/>
              <a:ext cx="637201" cy="672492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8746C71-0451-560C-3BD3-1A479200490F}"/>
                </a:ext>
              </a:extLst>
            </p:cNvPr>
            <p:cNvSpPr txBox="1"/>
            <p:nvPr/>
          </p:nvSpPr>
          <p:spPr>
            <a:xfrm>
              <a:off x="916544" y="787724"/>
              <a:ext cx="2025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Severo Ochoa</a:t>
              </a: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6B285A75-0A13-CCF0-BEDA-EE096266B552}"/>
              </a:ext>
            </a:extLst>
          </p:cNvPr>
          <p:cNvSpPr txBox="1"/>
          <p:nvPr/>
        </p:nvSpPr>
        <p:spPr>
          <a:xfrm>
            <a:off x="1122949" y="2470167"/>
            <a:ext cx="6898102" cy="787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200" dirty="0">
                <a:solidFill>
                  <a:srgbClr val="000000"/>
                </a:solidFill>
                <a:latin typeface="Helvetica" pitchFamily="2" charset="0"/>
              </a:rPr>
              <a:t>En modalidad semipresencial es complicado de organizar, pero en el universo laboral esto es </a:t>
            </a:r>
            <a:r>
              <a:rPr lang="es-ES" sz="1200" b="1" dirty="0" err="1">
                <a:solidFill>
                  <a:srgbClr val="000000"/>
                </a:solidFill>
                <a:latin typeface="Helvetica" pitchFamily="2" charset="0"/>
              </a:rPr>
              <a:t>core</a:t>
            </a:r>
            <a:r>
              <a:rPr lang="es-ES" sz="1200" dirty="0">
                <a:solidFill>
                  <a:srgbClr val="000000"/>
                </a:solidFill>
                <a:latin typeface="Helvetica" pitchFamily="2" charset="0"/>
              </a:rPr>
              <a:t>. Si este fuese un proyecto de más calado con 2 o 3 personas, ¿cómo os organizaríais? Propón a grandes rasgos un sistema de trabajo: organización del trabajo, roles, ramas, repositorios...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2907F52-53A5-8D54-4D25-D79D6EFAAC6F}"/>
              </a:ext>
            </a:extLst>
          </p:cNvPr>
          <p:cNvSpPr txBox="1"/>
          <p:nvPr/>
        </p:nvSpPr>
        <p:spPr>
          <a:xfrm>
            <a:off x="1235144" y="4149059"/>
            <a:ext cx="6898102" cy="307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200" dirty="0">
                <a:solidFill>
                  <a:srgbClr val="000000"/>
                </a:solidFill>
                <a:latin typeface="Helvetica" pitchFamily="2" charset="0"/>
              </a:rPr>
              <a:t>Conclusión final y despedida. Remata el mensaje del vídeo.</a:t>
            </a:r>
          </a:p>
        </p:txBody>
      </p:sp>
    </p:spTree>
    <p:extLst>
      <p:ext uri="{BB962C8B-B14F-4D97-AF65-F5344CB8AC3E}">
        <p14:creationId xmlns:p14="http://schemas.microsoft.com/office/powerpoint/2010/main" val="291271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58D8-F683-6B7C-9D37-FD0A3A1F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09CACE5-9B2A-DA68-5895-BC75EEF338CE}"/>
              </a:ext>
            </a:extLst>
          </p:cNvPr>
          <p:cNvSpPr txBox="1"/>
          <p:nvPr/>
        </p:nvSpPr>
        <p:spPr>
          <a:xfrm>
            <a:off x="406462" y="5043513"/>
            <a:ext cx="6704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Helvetica" pitchFamily="2" charset="0"/>
              </a:rPr>
              <a:t>Organizando la base de conocimiento y entregables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64441AB-E6A8-86CA-EF7A-E01D4E2ADC74}"/>
              </a:ext>
            </a:extLst>
          </p:cNvPr>
          <p:cNvSpPr txBox="1"/>
          <p:nvPr/>
        </p:nvSpPr>
        <p:spPr>
          <a:xfrm>
            <a:off x="5138057" y="5028301"/>
            <a:ext cx="3546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7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0B71DCD-0AF5-381F-16B4-4B74CFE58DE5}"/>
              </a:ext>
            </a:extLst>
          </p:cNvPr>
          <p:cNvGrpSpPr/>
          <p:nvPr/>
        </p:nvGrpSpPr>
        <p:grpSpPr>
          <a:xfrm>
            <a:off x="406462" y="379274"/>
            <a:ext cx="2535212" cy="777782"/>
            <a:chOff x="406462" y="379274"/>
            <a:chExt cx="2535212" cy="777782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22E4317-267F-7ABC-8B53-7681C94B7CC8}"/>
                </a:ext>
              </a:extLst>
            </p:cNvPr>
            <p:cNvSpPr txBox="1"/>
            <p:nvPr/>
          </p:nvSpPr>
          <p:spPr>
            <a:xfrm>
              <a:off x="916544" y="545675"/>
              <a:ext cx="637201" cy="372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IES</a:t>
              </a:r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CA88C70-3E78-71D5-8DDA-467837059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6462" y="379274"/>
              <a:ext cx="637201" cy="672492"/>
            </a:xfrm>
            <a:prstGeom prst="rect">
              <a:avLst/>
            </a:prstGeom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34C509C-321F-1570-C817-80F14A332431}"/>
                </a:ext>
              </a:extLst>
            </p:cNvPr>
            <p:cNvSpPr txBox="1"/>
            <p:nvPr/>
          </p:nvSpPr>
          <p:spPr>
            <a:xfrm>
              <a:off x="916544" y="787724"/>
              <a:ext cx="20251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" pitchFamily="2" charset="0"/>
                </a:rPr>
                <a:t>Severo Ochoa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057EE27-7743-5E85-1347-01A734051923}"/>
              </a:ext>
            </a:extLst>
          </p:cNvPr>
          <p:cNvGrpSpPr/>
          <p:nvPr/>
        </p:nvGrpSpPr>
        <p:grpSpPr>
          <a:xfrm>
            <a:off x="406462" y="5335725"/>
            <a:ext cx="8331074" cy="45719"/>
            <a:chOff x="4312759" y="3072668"/>
            <a:chExt cx="4065928" cy="201794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F7F4E26A-6D0D-B9A0-1BCA-14D24F4213F4}"/>
                </a:ext>
              </a:extLst>
            </p:cNvPr>
            <p:cNvSpPr/>
            <p:nvPr/>
          </p:nvSpPr>
          <p:spPr>
            <a:xfrm>
              <a:off x="4312759" y="3072668"/>
              <a:ext cx="1975756" cy="20179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D2946CF-F97B-5958-AD1C-16E14BA302D0}"/>
                </a:ext>
              </a:extLst>
            </p:cNvPr>
            <p:cNvSpPr/>
            <p:nvPr/>
          </p:nvSpPr>
          <p:spPr>
            <a:xfrm>
              <a:off x="6402931" y="3072668"/>
              <a:ext cx="1975756" cy="201794"/>
            </a:xfrm>
            <a:prstGeom prst="rect">
              <a:avLst/>
            </a:prstGeom>
            <a:solidFill>
              <a:srgbClr val="CC262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1899567-73B7-CDB6-7F59-216889BDDECE}"/>
              </a:ext>
            </a:extLst>
          </p:cNvPr>
          <p:cNvSpPr txBox="1"/>
          <p:nvPr/>
        </p:nvSpPr>
        <p:spPr>
          <a:xfrm>
            <a:off x="1235144" y="1238268"/>
            <a:ext cx="7310340" cy="3352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80000"/>
              </a:lnSpc>
            </a:pPr>
            <a:r>
              <a:rPr lang="es-ES" sz="1600" b="1" dirty="0">
                <a:solidFill>
                  <a:srgbClr val="EB6A2A"/>
                </a:solidFill>
                <a:latin typeface="Helvetica" pitchFamily="2" charset="0"/>
              </a:rPr>
              <a:t>01  </a:t>
            </a:r>
            <a:r>
              <a:rPr lang="es-ES" sz="1600" b="1" dirty="0">
                <a:latin typeface="Helvetica" pitchFamily="2" charset="0"/>
              </a:rPr>
              <a:t>Crear una </a:t>
            </a:r>
            <a:r>
              <a:rPr lang="es-ES" sz="1600" b="1" dirty="0">
                <a:solidFill>
                  <a:srgbClr val="FF0000"/>
                </a:solidFill>
                <a:latin typeface="Helvetica" pitchFamily="2" charset="0"/>
              </a:rPr>
              <a:t>Organización</a:t>
            </a:r>
            <a:r>
              <a:rPr lang="es-ES" sz="1600" b="1" dirty="0">
                <a:latin typeface="Helvetica" pitchFamily="2" charset="0"/>
              </a:rPr>
              <a:t> en GitHub</a:t>
            </a:r>
            <a:r>
              <a:rPr lang="es-ES" sz="1400" dirty="0">
                <a:latin typeface="Helvetica" pitchFamily="2" charset="0"/>
              </a:rPr>
              <a:t>: Recibirás instrucciones detalladas separadas.</a:t>
            </a:r>
          </a:p>
          <a:p>
            <a:pPr algn="l">
              <a:lnSpc>
                <a:spcPct val="180000"/>
              </a:lnSpc>
            </a:pPr>
            <a:r>
              <a:rPr lang="es-ES" sz="1600" b="1" dirty="0">
                <a:solidFill>
                  <a:srgbClr val="EB6A2A"/>
                </a:solidFill>
                <a:latin typeface="Helvetica" pitchFamily="2" charset="0"/>
              </a:rPr>
              <a:t>02  </a:t>
            </a:r>
            <a:r>
              <a:rPr lang="es-ES" sz="1400" dirty="0">
                <a:latin typeface="Helvetica" pitchFamily="2" charset="0"/>
              </a:rPr>
              <a:t>Migrar los entregables (sustituye los vídeos por enlaces a un lugar accesible en la medida de lo posible). Sube tantos repositorios como necesites </a:t>
            </a:r>
            <a:r>
              <a:rPr lang="es-ES" sz="1400" b="1" dirty="0">
                <a:latin typeface="Helvetica" pitchFamily="2" charset="0"/>
              </a:rPr>
              <a:t>DENTRO</a:t>
            </a:r>
            <a:r>
              <a:rPr lang="es-ES" sz="1400" dirty="0">
                <a:latin typeface="Helvetica" pitchFamily="2" charset="0"/>
              </a:rPr>
              <a:t> de la organización. (La organización funciona casi como una cuenta independiente de </a:t>
            </a:r>
            <a:r>
              <a:rPr lang="es-ES" sz="1400" dirty="0" err="1">
                <a:latin typeface="Helvetica" pitchFamily="2" charset="0"/>
              </a:rPr>
              <a:t>github</a:t>
            </a:r>
            <a:r>
              <a:rPr lang="es-ES" sz="1400" dirty="0">
                <a:latin typeface="Helvetica" pitchFamily="2" charset="0"/>
              </a:rPr>
              <a:t>).</a:t>
            </a:r>
          </a:p>
          <a:p>
            <a:pPr algn="l">
              <a:lnSpc>
                <a:spcPct val="180000"/>
              </a:lnSpc>
            </a:pPr>
            <a:r>
              <a:rPr lang="es-ES" sz="1600" b="1" dirty="0">
                <a:solidFill>
                  <a:srgbClr val="EB6A2A"/>
                </a:solidFill>
                <a:latin typeface="Helvetica" pitchFamily="2" charset="0"/>
              </a:rPr>
              <a:t>03  </a:t>
            </a:r>
            <a:r>
              <a:rPr lang="es-ES" sz="1400" dirty="0">
                <a:latin typeface="Helvetica" pitchFamily="2" charset="0"/>
              </a:rPr>
              <a:t>README.md claro en el repositorio principal así como enlaces al resto de repositorios auxiliares y breve descripción</a:t>
            </a:r>
          </a:p>
          <a:p>
            <a:pPr algn="l">
              <a:lnSpc>
                <a:spcPct val="180000"/>
              </a:lnSpc>
            </a:pPr>
            <a:r>
              <a:rPr lang="es-ES" sz="1600" b="1" dirty="0">
                <a:solidFill>
                  <a:srgbClr val="EB6A2A"/>
                </a:solidFill>
                <a:latin typeface="Helvetica" pitchFamily="2" charset="0"/>
              </a:rPr>
              <a:t>04  </a:t>
            </a:r>
            <a:r>
              <a:rPr lang="es-ES" sz="1400" dirty="0">
                <a:latin typeface="Helvetica" pitchFamily="2" charset="0"/>
              </a:rPr>
              <a:t>Invitar al equipo docente a la organización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E6CA79D-FBC9-6425-5D03-08DB457A4E8B}"/>
              </a:ext>
            </a:extLst>
          </p:cNvPr>
          <p:cNvSpPr txBox="1"/>
          <p:nvPr/>
        </p:nvSpPr>
        <p:spPr>
          <a:xfrm>
            <a:off x="1626786" y="564330"/>
            <a:ext cx="7110753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ES" sz="2400" b="1" dirty="0">
                <a:latin typeface="Helvetica" pitchFamily="2" charset="0"/>
              </a:rPr>
              <a:t>Entregable Técnico</a:t>
            </a:r>
          </a:p>
        </p:txBody>
      </p:sp>
    </p:spTree>
    <p:extLst>
      <p:ext uri="{BB962C8B-B14F-4D97-AF65-F5344CB8AC3E}">
        <p14:creationId xmlns:p14="http://schemas.microsoft.com/office/powerpoint/2010/main" val="71485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severo" id="{B7399B1E-B82E-F746-A17F-909DE10B8654}" vid="{3B0E4FC6-B8CF-5A4C-95AA-FAB3625D9AD8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952C8E-77FA-401F-A1C8-B48B8D6C5458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d8a3d7d8-af84-4f60-a267-24e1a6b76c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632</Words>
  <Application>Microsoft Office PowerPoint</Application>
  <PresentationFormat>Presentación en pantalla (16:10)</PresentationFormat>
  <Paragraphs>70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CONTRERAS LOPEZ, SERGIO</dc:creator>
  <cp:lastModifiedBy>Sergio Contreras Lopez</cp:lastModifiedBy>
  <cp:revision>28</cp:revision>
  <dcterms:created xsi:type="dcterms:W3CDTF">2025-05-09T13:29:38Z</dcterms:created>
  <dcterms:modified xsi:type="dcterms:W3CDTF">2026-04-16T11:42:38Z</dcterms:modified>
</cp:coreProperties>
</file>